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1A1A1A"/>
                </a:solidFill>
                <a:latin typeface="Helvetica Neue"/>
              </a:rPr>
              <a:t>Lineup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6B7280"/>
                </a:solidFill>
                <a:latin typeface="Helvetica Neue"/>
              </a:rPr>
              <a:t>Not a Luma replacement — the fast lane next to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Helvetica Neue"/>
              </a:rPr>
              <a:t>Keep Luma for the real event page. But the moment you need to </a:t>
            </a:r>
            <a:r>
              <a:rPr sz="2000" b="1">
                <a:solidFill>
                  <a:srgbClr val="1A1A1A"/>
                </a:solidFill>
                <a:latin typeface="Helvetica Neue"/>
              </a:rPr>
              <a:t>announce it</a:t>
            </a:r>
            <a:r>
              <a:rPr sz="2000" b="0">
                <a:solidFill>
                  <a:srgbClr val="1A1A1A"/>
                </a:solidFill>
                <a:latin typeface="Helvetica Neue"/>
              </a:rPr>
              <a:t> — an email, a Slack post, an Instagram story, a “who’s speaking” card — you’re back to juggling Canva + a QR generator + a calendar 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31920"/>
            <a:ext cx="10515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6908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F4444"/>
                </a:solidFill>
                <a:latin typeface="Helvetica Neue"/>
              </a:rPr>
              <a:t>“Announce Friday’s panel — speakers Lea, Marco and Priya — accent red.”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Helvetica Neue"/>
              </a:rPr>
              <a:t>→ a ready-to-post </a:t>
            </a:r>
            <a:r>
              <a:rPr sz="2000" b="1">
                <a:solidFill>
                  <a:srgbClr val="1A1A1A"/>
                </a:solidFill>
                <a:latin typeface="Helvetica Neue"/>
              </a:rPr>
              <a:t>event card</a:t>
            </a:r>
            <a:r>
              <a:rPr sz="2000" b="0">
                <a:solidFill>
                  <a:srgbClr val="1A1A1A"/>
                </a:solidFill>
                <a:latin typeface="Helvetica Neue"/>
              </a:rPr>
              <a:t> · an </a:t>
            </a:r>
            <a:r>
              <a:rPr sz="2000" b="1">
                <a:solidFill>
                  <a:srgbClr val="1A1A1A"/>
                </a:solidFill>
                <a:latin typeface="Helvetica Neue"/>
              </a:rPr>
              <a:t>identity badge per speaker</a:t>
            </a:r>
            <a:r>
              <a:rPr sz="2000" b="0">
                <a:solidFill>
                  <a:srgbClr val="1A1A1A"/>
                </a:solidFill>
                <a:latin typeface="Helvetica Neue"/>
              </a:rPr>
              <a:t> (avatar + role + contact QR) · an </a:t>
            </a:r>
            <a:r>
              <a:rPr sz="2000" b="1">
                <a:solidFill>
                  <a:srgbClr val="1A1A1A"/>
                </a:solidFill>
                <a:latin typeface="Helvetica Neue"/>
              </a:rPr>
              <a:t>RSVP QR</a:t>
            </a:r>
            <a:r>
              <a:rPr sz="2000" b="0">
                <a:solidFill>
                  <a:srgbClr val="1A1A1A"/>
                </a:solidFill>
                <a:latin typeface="Helvetica Neue"/>
              </a:rPr>
              <a:t> · a calendar </a:t>
            </a:r>
            <a:r>
              <a:rPr sz="2000" b="1">
                <a:solidFill>
                  <a:srgbClr val="1A1A1A"/>
                </a:solidFill>
                <a:latin typeface="Helvetica Neue"/>
              </a:rPr>
              <a:t>.ics</a:t>
            </a:r>
            <a:r>
              <a:rPr sz="2000" b="0">
                <a:solidFill>
                  <a:srgbClr val="1A1A1A"/>
                </a:solidFill>
                <a:latin typeface="Helvetica Neue"/>
              </a:rPr>
              <a:t>. Drop them into the email or the post. </a:t>
            </a:r>
            <a:r>
              <a:rPr sz="2000" b="1">
                <a:solidFill>
                  <a:srgbClr val="EF4444"/>
                </a:solidFill>
                <a:latin typeface="Helvetica Neue"/>
              </a:rPr>
              <a:t>~10 seconds.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A1A1A"/>
                </a:solidFill>
                <a:latin typeface="Helvetica Neue"/>
              </a:rPr>
              <a:t>One primitive, many use cases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6B7280"/>
                </a:solidFill>
                <a:latin typeface="Helvetica Neue"/>
              </a:rPr>
              <a:t>people + a moment + a scannable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731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Helvetica Neue"/>
              </a:rPr>
              <a:t>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783080"/>
            <a:ext cx="3291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1A"/>
                </a:solidFill>
                <a:latin typeface="Helvetica Neue"/>
              </a:rPr>
              <a:t>Announce an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783080"/>
            <a:ext cx="6035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Helvetica Neue"/>
              </a:rPr>
              <a:t>Card + QR + .ics to paste into an email or social post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69464"/>
            <a:ext cx="1051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69464"/>
            <a:ext cx="731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Helvetica Neue"/>
              </a:rPr>
              <a:t>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69464"/>
            <a:ext cx="3291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1A"/>
                </a:solidFill>
                <a:latin typeface="Helvetica Neue"/>
              </a:rPr>
              <a:t>Share who’s speaking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569464"/>
            <a:ext cx="6035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Helvetica Neue"/>
              </a:rPr>
              <a:t>A badge per speaker — avatar, role, contact QR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55848"/>
            <a:ext cx="1051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55848"/>
            <a:ext cx="731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Helvetica Neue"/>
              </a:rPr>
              <a:t>🗳️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355848"/>
            <a:ext cx="3291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1A"/>
                </a:solidFill>
                <a:latin typeface="Helvetica Neue"/>
              </a:rPr>
              <a:t>Voting / polls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355848"/>
            <a:ext cx="6035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Helvetica Neue"/>
              </a:rPr>
              <a:t>A unique code sent to each person — one ballot QR per voter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42232"/>
            <a:ext cx="1051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42232"/>
            <a:ext cx="731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Helvetica Neue"/>
              </a:rPr>
              <a:t>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142232"/>
            <a:ext cx="3291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1A"/>
                </a:solidFill>
                <a:latin typeface="Helvetica Neue"/>
              </a:rPr>
              <a:t>Conference ID /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142232"/>
            <a:ext cx="6035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Helvetica Neue"/>
              </a:rPr>
              <a:t>Printable badge, role, check-in QR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928616"/>
            <a:ext cx="1051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928616"/>
            <a:ext cx="731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Helvetica Neue"/>
              </a:rPr>
              <a:t>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928616"/>
            <a:ext cx="3291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1A"/>
                </a:solidFill>
                <a:latin typeface="Helvetica Neue"/>
              </a:rPr>
              <a:t>Networking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928616"/>
            <a:ext cx="6035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Helvetica Neue"/>
              </a:rPr>
              <a:t>Badge QR drops your contact straight into a phone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715000"/>
            <a:ext cx="1051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15000"/>
            <a:ext cx="731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Helvetica Neue"/>
              </a:rPr>
              <a:t>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715000"/>
            <a:ext cx="3291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1A"/>
                </a:solidFill>
                <a:latin typeface="Helvetica Neue"/>
              </a:rPr>
              <a:t>Team rosters / crews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5715000"/>
            <a:ext cx="6035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Helvetica Neue"/>
              </a:rPr>
              <a:t>A collectible “trading card” per 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355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Helvetica Neue"/>
              </a:rPr>
              <a:t>Complements Luma, Mailchimp, your CMS — the 10-second asset generator inside the chat you’re already 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A1A1A"/>
                </a:solidFill>
                <a:latin typeface="Helvetica Neue"/>
              </a:rPr>
              <a:t>How &amp; where it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949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1A"/>
                </a:solidFill>
                <a:latin typeface="Helvetica Neue"/>
              </a:rPr>
              <a:t>The stack is the moat — each piece does one thing well: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Helvetica Neue"/>
              </a:rPr>
              <a:t>Skybridge (Alpic)</a:t>
            </a:r>
            <a:r>
              <a:rPr sz="1800" b="0">
                <a:solidFill>
                  <a:srgbClr val="1A1A1A"/>
                </a:solidFill>
                <a:latin typeface="Helvetica Neue"/>
              </a:rPr>
              <a:t> — a real React UI inside ChatGPT + tunnel + deploy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Helvetica Neue"/>
              </a:rPr>
              <a:t>qrcode · DiceBear · ics</a:t>
            </a:r>
            <a:r>
              <a:rPr sz="1800" b="0">
                <a:solidFill>
                  <a:srgbClr val="1A1A1A"/>
                </a:solidFill>
                <a:latin typeface="Helvetica Neue"/>
              </a:rPr>
              <a:t> — tiny deterministic generators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Helvetica Neue"/>
              </a:rPr>
              <a:t>The LLM</a:t>
            </a:r>
            <a:r>
              <a:rPr sz="1800" b="0">
                <a:solidFill>
                  <a:srgbClr val="1A1A1A"/>
                </a:solidFill>
                <a:latin typeface="Helvetica Neue"/>
              </a:rPr>
              <a:t> — parses your sentence into fields, writes the 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20440"/>
            <a:ext cx="6949440" cy="1554480"/>
          </a:xfrm>
          <a:prstGeom prst="roundRect">
            <a:avLst/>
          </a:prstGeom>
          <a:solidFill>
            <a:srgbClr val="1E2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CE9B0"/>
                </a:solidFill>
                <a:latin typeface="Courier New"/>
              </a:rPr>
              <a:t>ChatGPT  --/mcp (No Auth)--&gt;  Alpic tunnel</a:t>
            </a:r>
          </a:p>
          <a:p>
            <a:r>
              <a:rPr sz="1200">
                <a:solidFill>
                  <a:srgbClr val="8CE9B0"/>
                </a:solidFill>
                <a:latin typeface="Courier New"/>
              </a:rPr>
              <a:t>                --&gt;  Skybridge server (localhost:3000)</a:t>
            </a:r>
          </a:p>
          <a:p>
            <a:r>
              <a:rPr sz="1200">
                <a:solidFill>
                  <a:srgbClr val="8CE9B0"/>
                </a:solidFill>
                <a:latin typeface="Courier New"/>
              </a:rPr>
              <a:t>                      |- generate-lineup tool</a:t>
            </a:r>
          </a:p>
          <a:p>
            <a:r>
              <a:rPr sz="1200">
                <a:solidFill>
                  <a:srgbClr val="8CE9B0"/>
                </a:solidFill>
                <a:latin typeface="Courier New"/>
              </a:rPr>
              <a:t>                      |- qrcode . DiceBear . ics</a:t>
            </a:r>
          </a:p>
          <a:p>
            <a:r>
              <a:rPr sz="1200">
                <a:solidFill>
                  <a:srgbClr val="8CE9B0"/>
                </a:solidFill>
                <a:latin typeface="Courier New"/>
              </a:rPr>
              <a:t>                      `- React view (in ChatGPT)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6949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Helvetica Neue"/>
              </a:rPr>
              <a:t>Now:</a:t>
            </a:r>
            <a:r>
              <a:rPr sz="1600" b="0">
                <a:solidFill>
                  <a:srgbClr val="1A1A1A"/>
                </a:solidFill>
                <a:latin typeface="Helvetica Neue"/>
              </a:rPr>
              <a:t> runs on the laptop via an Alpic tunnel for the live demo.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Helvetica Neue"/>
              </a:rPr>
              <a:t>Submission:</a:t>
            </a:r>
            <a:r>
              <a:rPr sz="1600" b="0">
                <a:solidFill>
                  <a:srgbClr val="1A1A1A"/>
                </a:solidFill>
                <a:latin typeface="Helvetica Neue"/>
              </a:rPr>
              <a:t> npm run deploy → Alpic Cloud (free). Pure-JS / edge-safe → Cloudflare Workers fallback. No accounts, no scraping.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17320"/>
            <a:ext cx="3200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002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Helvetica Neue"/>
              </a:rPr>
              <a:t>Get the code</a:t>
            </a:r>
          </a:p>
        </p:txBody>
      </p:sp>
      <p:pic>
        <p:nvPicPr>
          <p:cNvPr id="10" name="Picture 9" descr="repo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148840"/>
            <a:ext cx="237744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466344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github.com/</a:t>
            </a:r>
          </a:p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6A34A"/>
                </a:solidFill>
                <a:latin typeface="Helvetica Neue"/>
              </a:rPr>
              <a:t>kaiser-data/lineup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54864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Scan to clone · demo it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Helvetica Neue"/>
              </a:rPr>
              <a:t>Lineup: the fastest way to turn a sentence into something everyone can hold in their hand.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